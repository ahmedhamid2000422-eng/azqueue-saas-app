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64592" cy="4809744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Jollibee Malaysia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Personas &amp; Digital Customer Journeys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029968"/>
            <a:ext cx="3657600" cy="45720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762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GMS6313 / GNV6363 Digital Marketing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 2610 (March/April 2026)  |  Assessment: Project (30%)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2999232"/>
            <a:ext cx="4572000" cy="1554480"/>
          </a:xfrm>
          <a:prstGeom prst="rect">
            <a:avLst/>
          </a:prstGeom>
          <a:solidFill>
            <a:srgbClr val="6600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090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4564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1]  ·  [Student ID]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7124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2]  ·  [Student ID]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39684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3]  ·  [Student ID]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4224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4]  ·  [Student ID]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JOLLIBEE MALAYSIA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Challenge: Breaking into Malaysia's Competitive QSR Market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Jollibee launched at Sunway Pyramid alongside established QSR competitors (KFC, McDonald's). They used a 35-influencer strategy — combining macro and micro influencers — to drive brand awareness and foot traffic through authentic social media storytelling.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395728"/>
            <a:ext cx="2743200" cy="246888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95728"/>
            <a:ext cx="2743200" cy="640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macro + 20 micro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2395728"/>
            <a:ext cx="2743200" cy="246888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2395728"/>
            <a:ext cx="2743200" cy="640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2487168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12.34%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364992" y="33375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4992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pieces of content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2395728"/>
            <a:ext cx="2743200" cy="246888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2395728"/>
            <a:ext cx="2743200" cy="640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2487168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272784" y="33375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buy via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referral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2784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StarNgage Report, MY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 — THE SOCIAL MEDIA FOODIE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2926080" cy="463600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85800"/>
            <a:ext cx="1280160" cy="1280160"/>
          </a:xfrm>
          <a:prstGeom prst="ellipse">
            <a:avLst/>
          </a:prstGeom>
          <a:solidFill>
            <a:srgbClr val="F3C300"/>
          </a:solidFill>
          <a:ln w="25400">
            <a:solidFill>
              <a:srgbClr val="F0C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85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E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" y="20848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Aisha Rahman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Media Foodie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2377440" cy="27432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" y="3447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Subang Jaya, Selangor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Student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" y="4270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&amp; Instagram daily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" y="4617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F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saw it all over TikTok — the queue was crazy but Chickenjoy was worth it!"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63240" y="594360"/>
            <a:ext cx="2834640" cy="2176272"/>
          </a:xfrm>
          <a:prstGeom prst="rect">
            <a:avLst/>
          </a:prstGeom>
          <a:solidFill>
            <a:srgbClr val="F0ED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63240" y="594360"/>
            <a:ext cx="2834640" cy="347472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649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1069848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332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trending food first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72968" y="1472184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4356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shareable TikTok content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72968" y="1874520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83794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meals under RM25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72968" y="2276856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24028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the Jollibee hype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594360"/>
            <a:ext cx="2834640" cy="2176272"/>
          </a:xfrm>
          <a:prstGeom prst="rect">
            <a:avLst/>
          </a:prstGeom>
          <a:solidFill>
            <a:srgbClr val="F0ED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594360"/>
            <a:ext cx="2834640" cy="34747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649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0488" y="1069848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0332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— no pre-order option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0488" y="1472184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4356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loyalty app or rewards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90488" y="1874520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83794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rarely responds to tags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90488" y="2276856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24028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food quality reviews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63240" y="2907792"/>
            <a:ext cx="2834640" cy="2176272"/>
          </a:xfrm>
          <a:prstGeom prst="rect">
            <a:avLst/>
          </a:prstGeom>
          <a:solidFill>
            <a:srgbClr val="F0ED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063240" y="2907792"/>
            <a:ext cx="2834640" cy="347472"/>
          </a:xfrm>
          <a:prstGeom prst="rect">
            <a:avLst/>
          </a:prstGeom>
          <a:solidFill>
            <a:srgbClr val="5A3000"/>
          </a:solidFill>
          <a:ln w="12700">
            <a:solidFill>
              <a:srgbClr val="5A3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29626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72968" y="3383280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334670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(daily)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72968" y="3785616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749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(daily)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172968" y="4187952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415137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(weekly)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172968" y="4590288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45537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(daily)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80760" y="2907792"/>
            <a:ext cx="2834640" cy="2176272"/>
          </a:xfrm>
          <a:prstGeom prst="rect">
            <a:avLst/>
          </a:prstGeom>
          <a:solidFill>
            <a:srgbClr val="F0ED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80760" y="2907792"/>
            <a:ext cx="2834640" cy="347472"/>
          </a:xfrm>
          <a:prstGeom prst="rect">
            <a:avLst/>
          </a:prstGeom>
          <a:solidFill>
            <a:srgbClr val="5A3000"/>
          </a:solidFill>
          <a:ln w="12700">
            <a:solidFill>
              <a:srgbClr val="5A3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29626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SHE LOVES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90488" y="3383280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334670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Marrybrown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190488" y="3785616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749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Chatime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190488" y="4187952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415137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 Malaysia (for app deals)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190488" y="4590288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45537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Boba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AISHA'S DIGITAL CUSTOMER JOURNEY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89888" y="566928"/>
            <a:ext cx="2487168" cy="29260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9888" y="5852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PRE-PURCHASE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968496" y="566928"/>
            <a:ext cx="2487168" cy="29260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68496" y="5852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47104" y="566928"/>
            <a:ext cx="2487168" cy="292608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7104" y="5852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8988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4436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884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0780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1170432"/>
            <a:ext cx="1371600" cy="713232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" y="1188720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1920240"/>
            <a:ext cx="1371600" cy="713232"/>
          </a:xfrm>
          <a:prstGeom prst="rect">
            <a:avLst/>
          </a:prstGeom>
          <a:solidFill>
            <a:srgbClr val="4A2A00"/>
          </a:solidFill>
          <a:ln w="12700">
            <a:solidFill>
              <a:srgbClr val="4A2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" y="1938528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2670048"/>
            <a:ext cx="1371600" cy="71323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" y="2688336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3419856"/>
            <a:ext cx="1371600" cy="713232"/>
          </a:xfrm>
          <a:prstGeom prst="rect">
            <a:avLst/>
          </a:prstGeom>
          <a:solidFill>
            <a:srgbClr val="1E7A1E"/>
          </a:solidFill>
          <a:ln w="12700">
            <a:solidFill>
              <a:srgbClr val="1E7A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" y="3438144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169664"/>
            <a:ext cx="1371600" cy="713232"/>
          </a:xfrm>
          <a:prstGeom prst="rect">
            <a:avLst/>
          </a:prstGeom>
          <a:solidFill>
            <a:srgbClr val="5A3A00"/>
          </a:solidFill>
          <a:ln w="12700">
            <a:solidFill>
              <a:srgbClr val="5A3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" y="4187952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8988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0817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94436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6265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Jollibee website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9884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713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5332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7161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dine-in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0780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609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38988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0817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content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94436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6265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9884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1713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board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5332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7161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Chickenjoy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60780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2609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post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38988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0817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online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94436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6265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promo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online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49884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1713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05332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7161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60780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2609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replies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38988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0817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FOMO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94436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6265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49884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1713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05332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7161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Chickenjoy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delicious!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60780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2609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engage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her post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38988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0817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94436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6265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Hopeful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Anticipating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49884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1713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Impatient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05332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7161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Delighted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60780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62609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Hopeful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 — THE FAMILY-ORIENTED MILLENNIAL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2926080" cy="463600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85800"/>
            <a:ext cx="1280160" cy="1280160"/>
          </a:xfrm>
          <a:prstGeom prst="ellipse">
            <a:avLst/>
          </a:prstGeom>
          <a:solidFill>
            <a:srgbClr val="F3C300"/>
          </a:solidFill>
          <a:ln w="25400">
            <a:solidFill>
              <a:srgbClr val="F0C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85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" y="20848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Hafiz Abdullah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Family-Oriented Millennial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2377440" cy="27432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" y="3447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Puchong, Selangor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Project 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" y="4270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Wife + 2 kids (ages 5 &amp; 8)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" y="4617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F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"My kids love the chicken but there are no rewards — I cannot even order online directly."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63240" y="594360"/>
            <a:ext cx="2834640" cy="2176272"/>
          </a:xfrm>
          <a:prstGeom prst="rect">
            <a:avLst/>
          </a:prstGeom>
          <a:solidFill>
            <a:srgbClr val="F0ED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63240" y="594360"/>
            <a:ext cx="2834640" cy="347472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649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1069848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332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meal under RM80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72968" y="1472184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4356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food quality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72968" y="1874520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83794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Child-friendly menu options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72968" y="2276856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24028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delivery or dine-in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594360"/>
            <a:ext cx="2834640" cy="2176272"/>
          </a:xfrm>
          <a:prstGeom prst="rect">
            <a:avLst/>
          </a:prstGeom>
          <a:solidFill>
            <a:srgbClr val="F0ED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594360"/>
            <a:ext cx="2834640" cy="34747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649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0488" y="1069848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0332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loyalty programme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0488" y="1472184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4356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GrabFood orders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90488" y="1874520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83794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for online ordering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90488" y="2276856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24028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post-visit follow-up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63240" y="2907792"/>
            <a:ext cx="2834640" cy="2176272"/>
          </a:xfrm>
          <a:prstGeom prst="rect">
            <a:avLst/>
          </a:prstGeom>
          <a:solidFill>
            <a:srgbClr val="F0ED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063240" y="2907792"/>
            <a:ext cx="2834640" cy="347472"/>
          </a:xfrm>
          <a:prstGeom prst="rect">
            <a:avLst/>
          </a:prstGeom>
          <a:solidFill>
            <a:srgbClr val="5A3000"/>
          </a:solidFill>
          <a:ln w="12700">
            <a:solidFill>
              <a:srgbClr val="5A3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29626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72968" y="3383280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334670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(daily)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72968" y="3785616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749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GrabFood (evenings)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172968" y="4187952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415137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(occasional)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172968" y="4590288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45537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(daily)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80760" y="2907792"/>
            <a:ext cx="2834640" cy="2176272"/>
          </a:xfrm>
          <a:prstGeom prst="rect">
            <a:avLst/>
          </a:prstGeom>
          <a:solidFill>
            <a:srgbClr val="F0EDE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80760" y="2907792"/>
            <a:ext cx="2834640" cy="347472"/>
          </a:xfrm>
          <a:prstGeom prst="rect">
            <a:avLst/>
          </a:prstGeom>
          <a:solidFill>
            <a:srgbClr val="5A3000"/>
          </a:solidFill>
          <a:ln w="12700">
            <a:solidFill>
              <a:srgbClr val="5A3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29626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HE LOVES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90488" y="3383280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334670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(loyalty app)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190488" y="3785616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749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Hut (group deals)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190488" y="4187952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415137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 Malaysia (app)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190488" y="4590288"/>
            <a:ext cx="109728" cy="10972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45537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Domino's (delivery)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HAFIZ'S DIGITAL CUSTOMER JOURNEY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89888" y="566928"/>
            <a:ext cx="2487168" cy="29260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9888" y="5852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PRE-PURCHASE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968496" y="566928"/>
            <a:ext cx="2487168" cy="29260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68496" y="5852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47104" y="566928"/>
            <a:ext cx="2487168" cy="292608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7104" y="5852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8988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4436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884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Dine-in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07808" y="868680"/>
            <a:ext cx="1481328" cy="292608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886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1170432"/>
            <a:ext cx="1371600" cy="713232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" y="1188720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1920240"/>
            <a:ext cx="1371600" cy="713232"/>
          </a:xfrm>
          <a:prstGeom prst="rect">
            <a:avLst/>
          </a:prstGeom>
          <a:solidFill>
            <a:srgbClr val="4A2A00"/>
          </a:solidFill>
          <a:ln w="12700">
            <a:solidFill>
              <a:srgbClr val="4A2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" y="1938528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2670048"/>
            <a:ext cx="1371600" cy="71323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" y="2688336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3419856"/>
            <a:ext cx="1371600" cy="713232"/>
          </a:xfrm>
          <a:prstGeom prst="rect">
            <a:avLst/>
          </a:prstGeom>
          <a:solidFill>
            <a:srgbClr val="1E7A1E"/>
          </a:solidFill>
          <a:ln w="12700">
            <a:solidFill>
              <a:srgbClr val="1E7A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" y="3438144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169664"/>
            <a:ext cx="1371600" cy="713232"/>
          </a:xfrm>
          <a:prstGeom prst="rect">
            <a:avLst/>
          </a:prstGeom>
          <a:solidFill>
            <a:srgbClr val="5A3A00"/>
          </a:solidFill>
          <a:ln w="12700">
            <a:solidFill>
              <a:srgbClr val="5A3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" y="4187952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8988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0817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share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94436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6265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GrabFood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9884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713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GrabFood app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counter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5332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7161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dine-in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outlet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07808" y="1170432"/>
            <a:ext cx="1481328" cy="713232"/>
          </a:xfrm>
          <a:prstGeom prst="rect">
            <a:avLst/>
          </a:prstGeom>
          <a:solidFill>
            <a:srgbClr val="F0ED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6096" y="11887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38988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0817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post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94436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6265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GrabFood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9884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1713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GrabFood app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5332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7161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service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quality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607808" y="1920240"/>
            <a:ext cx="14813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26096" y="1938528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group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38988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0817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family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online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94436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6265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family bundle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on website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49884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1713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orders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05332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7161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meal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limited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607808" y="2670048"/>
            <a:ext cx="1481328" cy="713232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26096" y="2688336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voucher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38988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0817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factor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94436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6265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GrabFood star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builds trust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49884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1713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e-payment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05332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7161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love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Chickenjoy!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607808" y="3419856"/>
            <a:ext cx="1481328" cy="713232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26096" y="343814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Google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38988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0817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94436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6265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49884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1713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about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accuracy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05332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7161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607808" y="4169664"/>
            <a:ext cx="1481328" cy="713232"/>
          </a:xfrm>
          <a:prstGeom prst="rect">
            <a:avLst/>
          </a:prstGeom>
          <a:solidFill>
            <a:srgbClr val="FFF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626096" y="41879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but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 IDENTIFIED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both personas experience — and what Jollibee must fix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2743200" cy="36576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114800" cy="1143000"/>
          </a:xfrm>
          <a:prstGeom prst="rect">
            <a:avLst/>
          </a:prstGeom>
          <a:solidFill>
            <a:srgbClr val="660000"/>
          </a:solidFill>
          <a:ln w="12700">
            <a:solidFill>
              <a:srgbClr val="99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64008" cy="1143000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digital pre-ordering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6824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Aisha and Hafiz cite long queues and no skip-the-line option as their #1 frustration. No Jollibee Malaysia app exists.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27685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A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personas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114800" cy="1143000"/>
          </a:xfrm>
          <a:prstGeom prst="rect">
            <a:avLst/>
          </a:prstGeom>
          <a:solidFill>
            <a:srgbClr val="660000"/>
          </a:solidFill>
          <a:ln w="12700">
            <a:solidFill>
              <a:srgbClr val="99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60320"/>
            <a:ext cx="64008" cy="1143000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loyalty programme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29443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(McDonald's, KFC) offer points and rewards. Jollibee Malaysia offers nothing, reducing repeat visit motivation.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53872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A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personas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22192"/>
            <a:ext cx="4114800" cy="1143000"/>
          </a:xfrm>
          <a:prstGeom prst="rect">
            <a:avLst/>
          </a:prstGeom>
          <a:solidFill>
            <a:srgbClr val="660000"/>
          </a:solidFill>
          <a:ln w="12700">
            <a:solidFill>
              <a:srgbClr val="99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22192"/>
            <a:ext cx="64008" cy="1143000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913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social media response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42062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 tags Jollibee in content but the brand rarely responds. 79% of consumers expect a reply within 24 hours (Sprout Social, 2023).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480060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A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 (Persona 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4114800" cy="1143000"/>
          </a:xfrm>
          <a:prstGeom prst="rect">
            <a:avLst/>
          </a:prstGeom>
          <a:solidFill>
            <a:srgbClr val="660000"/>
          </a:solidFill>
          <a:ln w="12700">
            <a:solidFill>
              <a:srgbClr val="99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298448"/>
            <a:ext cx="64008" cy="1143000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GrabFood listing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9472" y="16824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finds Jollibee's GrabFood page lacks photos, bundles, and descriptions — leading to uncertainty and lost conversion.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227685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A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(Persona 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560320"/>
            <a:ext cx="4114800" cy="1143000"/>
          </a:xfrm>
          <a:prstGeom prst="rect">
            <a:avLst/>
          </a:prstGeom>
          <a:solidFill>
            <a:srgbClr val="660000"/>
          </a:solidFill>
          <a:ln w="12700">
            <a:solidFill>
              <a:srgbClr val="99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60320"/>
            <a:ext cx="64008" cy="1143000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post-visit engagement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9472" y="29443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dining, neither persona receives follow-up — no review request, no discount, no re-engagement message from the brand.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353872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A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personas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STRATEGIES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evidence-backed strategies to improve Jollibee Malaysia's digital customer journey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2651760" cy="34747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347472" cy="347472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225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Localised Mobile App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Pre-ordering + skip-the-line + real-time queue tracking. Mobile ordering reduces perceived wait time by up to 30% in QSR contexts (Kim &amp; Park, 2021).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17043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170432"/>
            <a:ext cx="2651760" cy="34747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170432"/>
            <a:ext cx="347472" cy="347472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38728" y="1225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Loyalty Programme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158191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'Jolly Points' — earning on every visit, family meal multiplier, birthday bonuses. Loyalty programmes increase QSR customer lifetime value by 22% (Accenture, 2022).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17043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170432"/>
            <a:ext cx="2651760" cy="34747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170432"/>
            <a:ext cx="347472" cy="347472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9088" y="1225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Customer Service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26480" y="158191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 a response team with &lt;2 hour reply target for TikTok, Instagram, and Facebook. 79% of consumers expect a brand response within 24 hours (Sprout Social, 2023).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72768" y="3200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72768" y="3200400"/>
            <a:ext cx="2651760" cy="34747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2768" y="3200400"/>
            <a:ext cx="347472" cy="347472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72768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56816" y="3255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GrabFood Listing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664208" y="36118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photography, prominent family bundle pricing, featured placement during peak family dining hours. Visual quality is the top conversion driver (Kong et al., 2022).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53128" y="3200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53128" y="3200400"/>
            <a:ext cx="2651760" cy="347472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53128" y="3200400"/>
            <a:ext cx="347472" cy="347472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53128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37176" y="3255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Re-Engagement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44568" y="36118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WhatsApp follow-up, GrabFood review prompt, and branded hashtag challenge (#JollyMomentsMY) to drive UGC and repeat visits (Kotler et al., 2021).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3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Jollibee Malaysia has strong brand energy — but digital gaps are costing customers.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0" y="1298448"/>
            <a:ext cx="2743200" cy="45720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411480" cy="411480"/>
          </a:xfrm>
          <a:prstGeom prst="ellipse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personas reveal distinct but overlapping pain points: no app, no loyalty, no post-purchase engagement.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journey maps confirm the brand excels at awareness but loses customers at the ordering, post-visit, and re-engagement stages.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11480" cy="411480"/>
          </a:xfrm>
          <a:prstGeom prst="ellipse">
            <a:avLst/>
          </a:prstGeom>
          <a:solidFill>
            <a:srgbClr val="F3C3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520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targeted strategies — app, loyalty, social service, GrabFood, re-engagement — directly address these friction points with measurable ROI.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4251960"/>
            <a:ext cx="5486400" cy="621792"/>
          </a:xfrm>
          <a:prstGeom prst="rect">
            <a:avLst/>
          </a:prstGeom>
          <a:solidFill>
            <a:srgbClr val="660000"/>
          </a:solidFill>
          <a:ln w="12700">
            <a:solidFill>
              <a:srgbClr val="F3C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25196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C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welcome!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— APA 6th Edition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73152" cy="38404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Accenture. (2022). Loyalty and customer engagement in the QSR sector. Accenture Strategy.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57200" y="1197864"/>
            <a:ext cx="73152" cy="38404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978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IIDE. (2026). Marketing strategy of Jollibee: A global case study. https://iide.co/case-studies/marketing-strategy-of-jollibee/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73152" cy="38404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37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J., &amp; Park, J. (2021). The effect of mobile ordering apps on customer satisfaction. International Journal of Hospitality Management, 93, 102801.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73152" cy="38404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2768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Kong, R., Lim, C., &amp; Yap, S. (2022). Visual content as a driver of food delivery app conversion. Journal of Retailing and Consumer Services, 64, 102765.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73152" cy="38404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816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Kotler, P., Kartajaya, H., &amp; Setiawan, I. (2021). Marketing 5.0: Technology for humanity. Wiley.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73152" cy="38404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558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Lemon, K. N., &amp; Verhoef, P. C. (2016). Understanding customer experience throughout the customer journey. Journal of Marketing, 80(6), 69–96.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73152" cy="38404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953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Sprout Social. (2023). The Sprout Social Index 2023: Social media consumer trends. Sprout Social.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73152" cy="384048"/>
          </a:xfrm>
          <a:prstGeom prst="rect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StarNgage. (2022). Influencer marketing in Malaysia report. StarNgage.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Jollibee Malaysia — Audience Personas &amp; Digital Customer Journeys</dc:title>
  <dc:subject>PptxGenJS Presentation</dc:subject>
  <dc:creator>MMU Group</dc:creator>
  <cp:lastModifiedBy>MMU Group</cp:lastModifiedBy>
  <cp:revision>1</cp:revision>
  <dcterms:created xsi:type="dcterms:W3CDTF">2026-06-14T02:18:32Z</dcterms:created>
  <dcterms:modified xsi:type="dcterms:W3CDTF">2026-06-14T02:18:32Z</dcterms:modified>
</cp:coreProperties>
</file>